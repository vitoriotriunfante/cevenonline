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Montaser Arabic Bold" panose="020B0604020202020204" charset="-78"/>
      <p:regular r:id="rId9"/>
    </p:embeddedFont>
    <p:embeddedFont>
      <p:font typeface="Montserrat" panose="00000500000000000000" pitchFamily="2" charset="0"/>
      <p:regular r:id="rId10"/>
    </p:embeddedFont>
    <p:embeddedFont>
      <p:font typeface="Montserrat Bold" panose="00000800000000000000" charset="0"/>
      <p:regular r:id="rId11"/>
    </p:embeddedFont>
    <p:embeddedFont>
      <p:font typeface="Montserrat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3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098"/>
            <a:ext cx="18288000" cy="10292098"/>
          </a:xfrm>
          <a:custGeom>
            <a:avLst/>
            <a:gdLst/>
            <a:ahLst/>
            <a:cxnLst/>
            <a:rect l="l" t="t" r="r" b="b"/>
            <a:pathLst>
              <a:path w="18288000" h="10292098">
                <a:moveTo>
                  <a:pt x="0" y="0"/>
                </a:moveTo>
                <a:lnTo>
                  <a:pt x="18288000" y="0"/>
                </a:lnTo>
                <a:lnTo>
                  <a:pt x="18288000" y="10292098"/>
                </a:lnTo>
                <a:lnTo>
                  <a:pt x="0" y="1029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30942" r="-36742" b="-3094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372099" y="1028700"/>
            <a:ext cx="12064466" cy="8229600"/>
            <a:chOff x="0" y="0"/>
            <a:chExt cx="3177472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77473" cy="2167467"/>
            </a:xfrm>
            <a:custGeom>
              <a:avLst/>
              <a:gdLst/>
              <a:ahLst/>
              <a:cxnLst/>
              <a:rect l="l" t="t" r="r" b="b"/>
              <a:pathLst>
                <a:path w="3177473" h="2167467">
                  <a:moveTo>
                    <a:pt x="21177" y="0"/>
                  </a:moveTo>
                  <a:lnTo>
                    <a:pt x="3156296" y="0"/>
                  </a:lnTo>
                  <a:cubicBezTo>
                    <a:pt x="3167992" y="0"/>
                    <a:pt x="3177473" y="9481"/>
                    <a:pt x="3177473" y="21177"/>
                  </a:cubicBezTo>
                  <a:lnTo>
                    <a:pt x="3177473" y="2146290"/>
                  </a:lnTo>
                  <a:cubicBezTo>
                    <a:pt x="3177473" y="2157986"/>
                    <a:pt x="3167992" y="2167467"/>
                    <a:pt x="3156296" y="2167467"/>
                  </a:cubicBezTo>
                  <a:lnTo>
                    <a:pt x="21177" y="2167467"/>
                  </a:lnTo>
                  <a:cubicBezTo>
                    <a:pt x="9481" y="2167467"/>
                    <a:pt x="0" y="2157986"/>
                    <a:pt x="0" y="2146290"/>
                  </a:cubicBezTo>
                  <a:lnTo>
                    <a:pt x="0" y="21177"/>
                  </a:lnTo>
                  <a:cubicBezTo>
                    <a:pt x="0" y="9481"/>
                    <a:pt x="9481" y="0"/>
                    <a:pt x="211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11818">
                    <a:alpha val="100000"/>
                  </a:srgbClr>
                </a:gs>
                <a:gs pos="100000">
                  <a:srgbClr val="90121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177472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17566" y="4264487"/>
            <a:ext cx="9378354" cy="316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3"/>
              </a:lnSpc>
            </a:pPr>
            <a:r>
              <a:rPr lang="en-US" sz="30075" b="1" spc="-3188">
                <a:gradFill>
                  <a:gsLst>
                    <a:gs pos="0">
                      <a:srgbClr val="C11818">
                        <a:alpha val="100000"/>
                      </a:srgbClr>
                    </a:gs>
                    <a:gs pos="100000">
                      <a:srgbClr val="901212">
                        <a:alpha val="100000"/>
                      </a:srgbClr>
                    </a:gs>
                  </a:gsLst>
                  <a:lin ang="0"/>
                </a:gradFill>
                <a:latin typeface="Montaser Arabic Bold"/>
                <a:ea typeface="Montaser Arabic Bold"/>
                <a:cs typeface="Montaser Arabic Bold"/>
                <a:sym typeface="Montaser Arabic Bold"/>
              </a:rPr>
              <a:t>JOTA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69128" y="2988121"/>
            <a:ext cx="5560127" cy="66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7"/>
              </a:lnSpc>
            </a:pPr>
            <a:r>
              <a:rPr lang="en-US" sz="38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DE USO DO</a:t>
            </a:r>
          </a:p>
        </p:txBody>
      </p:sp>
      <p:sp>
        <p:nvSpPr>
          <p:cNvPr id="8" name="Freeform 8"/>
          <p:cNvSpPr/>
          <p:nvPr/>
        </p:nvSpPr>
        <p:spPr>
          <a:xfrm>
            <a:off x="2164833" y="530153"/>
            <a:ext cx="6152733" cy="9221596"/>
          </a:xfrm>
          <a:custGeom>
            <a:avLst/>
            <a:gdLst/>
            <a:ahLst/>
            <a:cxnLst/>
            <a:rect l="l" t="t" r="r" b="b"/>
            <a:pathLst>
              <a:path w="6152733" h="9221596">
                <a:moveTo>
                  <a:pt x="0" y="0"/>
                </a:moveTo>
                <a:lnTo>
                  <a:pt x="6152733" y="0"/>
                </a:lnTo>
                <a:lnTo>
                  <a:pt x="6152733" y="9221596"/>
                </a:lnTo>
                <a:lnTo>
                  <a:pt x="0" y="9221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0" y="-284425"/>
            <a:ext cx="4896987" cy="3403406"/>
          </a:xfrm>
          <a:custGeom>
            <a:avLst/>
            <a:gdLst/>
            <a:ahLst/>
            <a:cxnLst/>
            <a:rect l="l" t="t" r="r" b="b"/>
            <a:pathLst>
              <a:path w="4896987" h="3403406">
                <a:moveTo>
                  <a:pt x="0" y="0"/>
                </a:moveTo>
                <a:lnTo>
                  <a:pt x="4896987" y="0"/>
                </a:lnTo>
                <a:lnTo>
                  <a:pt x="4896987" y="3403407"/>
                </a:lnTo>
                <a:lnTo>
                  <a:pt x="0" y="3403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6402075" y="2057400"/>
            <a:ext cx="5483851" cy="8229600"/>
          </a:xfrm>
          <a:custGeom>
            <a:avLst/>
            <a:gdLst/>
            <a:ahLst/>
            <a:cxnLst/>
            <a:rect l="l" t="t" r="r" b="b"/>
            <a:pathLst>
              <a:path w="5483851" h="8229600">
                <a:moveTo>
                  <a:pt x="0" y="0"/>
                </a:moveTo>
                <a:lnTo>
                  <a:pt x="5483850" y="0"/>
                </a:lnTo>
                <a:lnTo>
                  <a:pt x="5483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03324" y="538272"/>
            <a:ext cx="6481352" cy="100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1"/>
              </a:lnSpc>
            </a:pPr>
            <a:r>
              <a:rPr lang="en-US" sz="5851" b="1">
                <a:solidFill>
                  <a:srgbClr val="3B3B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SOU </a:t>
            </a:r>
            <a:r>
              <a:rPr lang="en-US" sz="5851" b="1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EU</a:t>
            </a:r>
            <a:r>
              <a:rPr lang="en-US" sz="5851" b="1">
                <a:solidFill>
                  <a:srgbClr val="3B3B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33253" y="6798339"/>
            <a:ext cx="4826047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Foi escolhido e votado pelo público do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Encontro Anual do Varejo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33253" y="5559934"/>
            <a:ext cx="508395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Meu nome significa </a:t>
            </a:r>
            <a:r>
              <a:rPr lang="en-US" sz="3000" b="1" spc="-39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rnada </a:t>
            </a:r>
            <a:r>
              <a:rPr lang="en-US" sz="3000" b="1" spc="-39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riunf</a:t>
            </a:r>
            <a:r>
              <a:rPr lang="en-US" sz="3000" b="1" spc="-39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7644" y="2808157"/>
            <a:ext cx="5274496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Você vai me ver nos materiais da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Triunfante </a:t>
            </a: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no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Passo a Passo da Venda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834" y="8593658"/>
            <a:ext cx="6380116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Sou </a:t>
            </a:r>
            <a:r>
              <a:rPr lang="en-US" sz="3000" b="1" i="1" spc="-39">
                <a:solidFill>
                  <a:srgbClr val="DC202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Obcecado Pelo Cliente</a:t>
            </a: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 e carrego comigo </a:t>
            </a:r>
            <a:r>
              <a:rPr lang="en-US" sz="3000" b="1" i="1" spc="-39">
                <a:solidFill>
                  <a:srgbClr val="DC202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Atitude de Dono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07426" y="3448287"/>
            <a:ext cx="5419794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Tenho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força</a:t>
            </a: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garra e</a:t>
            </a: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determinação</a:t>
            </a: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domino </a:t>
            </a: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região com raça e coração!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8785" y="5065806"/>
            <a:ext cx="6380116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Meu </a:t>
            </a:r>
            <a:r>
              <a:rPr lang="en-US" sz="3000" b="1" spc="-39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DNA 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é </a:t>
            </a:r>
            <a:r>
              <a:rPr lang="en-US" sz="3000" b="1" spc="-39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Triunfante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04299" y="8568690"/>
            <a:ext cx="4826047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Minha missão é ver a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Triunfante como a melhor escolha em Distribuição no Brasil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7644" y="5926025"/>
            <a:ext cx="4069671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A sua 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confiança</a:t>
            </a: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, é meu 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compromisso</a:t>
            </a: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Seu 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tempo</a:t>
            </a:r>
            <a:r>
              <a:rPr lang="en-US" sz="3000" spc="-39">
                <a:solidFill>
                  <a:srgbClr val="3B3B3B"/>
                </a:solidFill>
                <a:latin typeface="Montserrat"/>
                <a:ea typeface="Montserrat"/>
                <a:cs typeface="Montserrat"/>
                <a:sym typeface="Montserrat"/>
              </a:rPr>
              <a:t>, minha </a:t>
            </a:r>
            <a:r>
              <a:rPr lang="en-US" sz="3000" spc="-39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prioridade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75346" y="1795017"/>
            <a:ext cx="508395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Sou o avatar criado para representar o </a:t>
            </a:r>
            <a:r>
              <a:rPr lang="en-US" sz="3000" b="1" spc="-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650879" cy="12058469"/>
            <a:chOff x="0" y="0"/>
            <a:chExt cx="1751672" cy="3175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1672" cy="3175893"/>
            </a:xfrm>
            <a:custGeom>
              <a:avLst/>
              <a:gdLst/>
              <a:ahLst/>
              <a:cxnLst/>
              <a:rect l="l" t="t" r="r" b="b"/>
              <a:pathLst>
                <a:path w="1751672" h="3175893">
                  <a:moveTo>
                    <a:pt x="38413" y="0"/>
                  </a:moveTo>
                  <a:lnTo>
                    <a:pt x="1713258" y="0"/>
                  </a:lnTo>
                  <a:cubicBezTo>
                    <a:pt x="1723446" y="0"/>
                    <a:pt x="1733217" y="4047"/>
                    <a:pt x="1740421" y="11251"/>
                  </a:cubicBezTo>
                  <a:cubicBezTo>
                    <a:pt x="1747625" y="18455"/>
                    <a:pt x="1751672" y="28226"/>
                    <a:pt x="1751672" y="38413"/>
                  </a:cubicBezTo>
                  <a:lnTo>
                    <a:pt x="1751672" y="3137480"/>
                  </a:lnTo>
                  <a:cubicBezTo>
                    <a:pt x="1751672" y="3147668"/>
                    <a:pt x="1747625" y="3157438"/>
                    <a:pt x="1740421" y="3164642"/>
                  </a:cubicBezTo>
                  <a:cubicBezTo>
                    <a:pt x="1733217" y="3171846"/>
                    <a:pt x="1723446" y="3175893"/>
                    <a:pt x="1713258" y="3175893"/>
                  </a:cubicBezTo>
                  <a:lnTo>
                    <a:pt x="38413" y="3175893"/>
                  </a:lnTo>
                  <a:cubicBezTo>
                    <a:pt x="28226" y="3175893"/>
                    <a:pt x="18455" y="3171846"/>
                    <a:pt x="11251" y="3164642"/>
                  </a:cubicBezTo>
                  <a:cubicBezTo>
                    <a:pt x="4047" y="3157438"/>
                    <a:pt x="0" y="3147668"/>
                    <a:pt x="0" y="3137480"/>
                  </a:cubicBezTo>
                  <a:lnTo>
                    <a:pt x="0" y="38413"/>
                  </a:lnTo>
                  <a:cubicBezTo>
                    <a:pt x="0" y="28226"/>
                    <a:pt x="4047" y="18455"/>
                    <a:pt x="11251" y="11251"/>
                  </a:cubicBezTo>
                  <a:cubicBezTo>
                    <a:pt x="18455" y="4047"/>
                    <a:pt x="28226" y="0"/>
                    <a:pt x="384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11818">
                    <a:alpha val="100000"/>
                  </a:srgbClr>
                </a:gs>
                <a:gs pos="100000">
                  <a:srgbClr val="90121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51672" cy="321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8923" y="0"/>
            <a:ext cx="7410656" cy="12106064"/>
          </a:xfrm>
          <a:custGeom>
            <a:avLst/>
            <a:gdLst/>
            <a:ahLst/>
            <a:cxnLst/>
            <a:rect l="l" t="t" r="r" b="b"/>
            <a:pathLst>
              <a:path w="7410656" h="12106064">
                <a:moveTo>
                  <a:pt x="0" y="0"/>
                </a:moveTo>
                <a:lnTo>
                  <a:pt x="7410656" y="0"/>
                </a:lnTo>
                <a:lnTo>
                  <a:pt x="7410656" y="12106064"/>
                </a:lnTo>
                <a:lnTo>
                  <a:pt x="0" y="12106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99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30397" y="7619493"/>
            <a:ext cx="4447485" cy="78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8"/>
              </a:lnSpc>
            </a:pPr>
            <a:r>
              <a:rPr lang="en-US" sz="6626" b="1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ATENÇÃO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47815" y="1181100"/>
            <a:ext cx="9014867" cy="447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3230" dirty="0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Jota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é o avatar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oficial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do time </a:t>
            </a:r>
            <a:r>
              <a:rPr lang="en-US" sz="323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Comercial</a:t>
            </a:r>
            <a:r>
              <a:rPr lang="en-US" sz="323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Vendas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Merchandising) e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deverá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ser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utilizado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exclusivamente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pelos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setores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Comercial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DHO.</a:t>
            </a:r>
          </a:p>
          <a:p>
            <a:pPr algn="l">
              <a:lnSpc>
                <a:spcPts val="3004"/>
              </a:lnSpc>
            </a:pPr>
            <a:endParaRPr lang="en-US" sz="323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424"/>
              </a:lnSpc>
            </a:pP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pode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aparecer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697404" lvl="1" indent="-348702" algn="l">
              <a:lnSpc>
                <a:spcPts val="3424"/>
              </a:lnSpc>
              <a:buFont typeface="Arial"/>
              <a:buChar char="•"/>
            </a:pP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Materiais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comunicação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do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Comercial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697404" lvl="1" indent="-348702" algn="l">
              <a:lnSpc>
                <a:spcPts val="3424"/>
              </a:lnSpc>
              <a:buFont typeface="Arial"/>
              <a:buChar char="•"/>
            </a:pP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Planilhas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relatórios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apresentações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697404" lvl="1" indent="-348702" algn="l">
              <a:lnSpc>
                <a:spcPts val="3424"/>
              </a:lnSpc>
              <a:buFont typeface="Arial"/>
              <a:buChar char="•"/>
            </a:pP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Documentos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geral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do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Comercial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marL="697404" lvl="1" indent="-348702" algn="l">
              <a:lnSpc>
                <a:spcPts val="3424"/>
              </a:lnSpc>
              <a:buFont typeface="Arial"/>
              <a:buChar char="•"/>
            </a:pP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Campanhas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iniciativas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voltadas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ao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time </a:t>
            </a:r>
            <a:r>
              <a:rPr lang="en-US" sz="323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Comercial</a:t>
            </a:r>
            <a:r>
              <a:rPr lang="en-US" sz="323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47815" y="6491464"/>
            <a:ext cx="8805216" cy="1518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Outros </a:t>
            </a:r>
            <a:r>
              <a:rPr lang="en-US" sz="24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setores</a:t>
            </a: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não</a:t>
            </a: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estão</a:t>
            </a: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autorizados</a:t>
            </a: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 </a:t>
            </a:r>
            <a:r>
              <a:rPr lang="en-US" sz="24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utilizar</a:t>
            </a: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 </a:t>
            </a:r>
            <a:r>
              <a:rPr lang="en-US" sz="2400" b="1" dirty="0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Jota</a:t>
            </a:r>
            <a:r>
              <a:rPr lang="en-US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3004"/>
              </a:lnSpc>
            </a:pP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Comunicados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institucionais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avisos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gerais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materiais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sejam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diretamente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ligados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ao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Comercial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devem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conter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avatar.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42990" y="8482966"/>
            <a:ext cx="8805216" cy="116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3230" b="1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objetivo é manter a identidade do Jota alinhada à área Comercial, fortalecendo nossa cultura e engajamento do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25009" y="725956"/>
            <a:ext cx="8508131" cy="8835087"/>
            <a:chOff x="0" y="0"/>
            <a:chExt cx="2240825" cy="23269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0824" cy="2326937"/>
            </a:xfrm>
            <a:custGeom>
              <a:avLst/>
              <a:gdLst/>
              <a:ahLst/>
              <a:cxnLst/>
              <a:rect l="l" t="t" r="r" b="b"/>
              <a:pathLst>
                <a:path w="2240824" h="2326937">
                  <a:moveTo>
                    <a:pt x="16379" y="0"/>
                  </a:moveTo>
                  <a:lnTo>
                    <a:pt x="2224445" y="0"/>
                  </a:lnTo>
                  <a:cubicBezTo>
                    <a:pt x="2228790" y="0"/>
                    <a:pt x="2232956" y="1726"/>
                    <a:pt x="2236027" y="4797"/>
                  </a:cubicBezTo>
                  <a:cubicBezTo>
                    <a:pt x="2239099" y="7869"/>
                    <a:pt x="2240824" y="12035"/>
                    <a:pt x="2240824" y="16379"/>
                  </a:cubicBezTo>
                  <a:lnTo>
                    <a:pt x="2240824" y="2310558"/>
                  </a:lnTo>
                  <a:cubicBezTo>
                    <a:pt x="2240824" y="2314902"/>
                    <a:pt x="2239099" y="2319068"/>
                    <a:pt x="2236027" y="2322139"/>
                  </a:cubicBezTo>
                  <a:cubicBezTo>
                    <a:pt x="2232956" y="2325211"/>
                    <a:pt x="2228790" y="2326937"/>
                    <a:pt x="2224445" y="2326937"/>
                  </a:cubicBezTo>
                  <a:lnTo>
                    <a:pt x="16379" y="2326937"/>
                  </a:lnTo>
                  <a:cubicBezTo>
                    <a:pt x="12035" y="2326937"/>
                    <a:pt x="7869" y="2325211"/>
                    <a:pt x="4797" y="2322139"/>
                  </a:cubicBezTo>
                  <a:cubicBezTo>
                    <a:pt x="1726" y="2319068"/>
                    <a:pt x="0" y="2314902"/>
                    <a:pt x="0" y="2310558"/>
                  </a:cubicBezTo>
                  <a:lnTo>
                    <a:pt x="0" y="16379"/>
                  </a:lnTo>
                  <a:cubicBezTo>
                    <a:pt x="0" y="12035"/>
                    <a:pt x="1726" y="7869"/>
                    <a:pt x="4797" y="4797"/>
                  </a:cubicBezTo>
                  <a:cubicBezTo>
                    <a:pt x="7869" y="1726"/>
                    <a:pt x="12035" y="0"/>
                    <a:pt x="163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11818">
                    <a:alpha val="100000"/>
                  </a:srgbClr>
                </a:gs>
                <a:gs pos="100000">
                  <a:srgbClr val="90121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40825" cy="2365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002845" y="1028700"/>
            <a:ext cx="1738121" cy="2605062"/>
          </a:xfrm>
          <a:custGeom>
            <a:avLst/>
            <a:gdLst/>
            <a:ahLst/>
            <a:cxnLst/>
            <a:rect l="l" t="t" r="r" b="b"/>
            <a:pathLst>
              <a:path w="1738121" h="2605062">
                <a:moveTo>
                  <a:pt x="0" y="0"/>
                </a:moveTo>
                <a:lnTo>
                  <a:pt x="1738122" y="0"/>
                </a:lnTo>
                <a:lnTo>
                  <a:pt x="1738122" y="2605062"/>
                </a:lnTo>
                <a:lnTo>
                  <a:pt x="0" y="260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85969" y="1028700"/>
            <a:ext cx="1735901" cy="2605062"/>
          </a:xfrm>
          <a:custGeom>
            <a:avLst/>
            <a:gdLst/>
            <a:ahLst/>
            <a:cxnLst/>
            <a:rect l="l" t="t" r="r" b="b"/>
            <a:pathLst>
              <a:path w="1735901" h="2605062">
                <a:moveTo>
                  <a:pt x="0" y="0"/>
                </a:moveTo>
                <a:lnTo>
                  <a:pt x="1735901" y="0"/>
                </a:lnTo>
                <a:lnTo>
                  <a:pt x="1735901" y="2605062"/>
                </a:lnTo>
                <a:lnTo>
                  <a:pt x="0" y="260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5463407" y="1044093"/>
            <a:ext cx="1795893" cy="2692380"/>
          </a:xfrm>
          <a:custGeom>
            <a:avLst/>
            <a:gdLst/>
            <a:ahLst/>
            <a:cxnLst/>
            <a:rect l="l" t="t" r="r" b="b"/>
            <a:pathLst>
              <a:path w="1795893" h="2692380">
                <a:moveTo>
                  <a:pt x="0" y="0"/>
                </a:moveTo>
                <a:lnTo>
                  <a:pt x="1795893" y="0"/>
                </a:lnTo>
                <a:lnTo>
                  <a:pt x="1795893" y="2692380"/>
                </a:lnTo>
                <a:lnTo>
                  <a:pt x="0" y="2692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55531" y="3799944"/>
            <a:ext cx="1846159" cy="2766987"/>
          </a:xfrm>
          <a:custGeom>
            <a:avLst/>
            <a:gdLst/>
            <a:ahLst/>
            <a:cxnLst/>
            <a:rect l="l" t="t" r="r" b="b"/>
            <a:pathLst>
              <a:path w="1846159" h="2766987">
                <a:moveTo>
                  <a:pt x="0" y="0"/>
                </a:moveTo>
                <a:lnTo>
                  <a:pt x="1846160" y="0"/>
                </a:lnTo>
                <a:lnTo>
                  <a:pt x="1846160" y="2766987"/>
                </a:lnTo>
                <a:lnTo>
                  <a:pt x="0" y="2766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06311" y="3799944"/>
            <a:ext cx="1736708" cy="2605062"/>
          </a:xfrm>
          <a:custGeom>
            <a:avLst/>
            <a:gdLst/>
            <a:ahLst/>
            <a:cxnLst/>
            <a:rect l="l" t="t" r="r" b="b"/>
            <a:pathLst>
              <a:path w="1736708" h="2605062">
                <a:moveTo>
                  <a:pt x="0" y="0"/>
                </a:moveTo>
                <a:lnTo>
                  <a:pt x="1736708" y="0"/>
                </a:lnTo>
                <a:lnTo>
                  <a:pt x="1736708" y="2605062"/>
                </a:lnTo>
                <a:lnTo>
                  <a:pt x="0" y="2605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43019" y="3799944"/>
            <a:ext cx="1735901" cy="2605062"/>
          </a:xfrm>
          <a:custGeom>
            <a:avLst/>
            <a:gdLst/>
            <a:ahLst/>
            <a:cxnLst/>
            <a:rect l="l" t="t" r="r" b="b"/>
            <a:pathLst>
              <a:path w="1735901" h="2605062">
                <a:moveTo>
                  <a:pt x="0" y="0"/>
                </a:moveTo>
                <a:lnTo>
                  <a:pt x="1735902" y="0"/>
                </a:lnTo>
                <a:lnTo>
                  <a:pt x="1735902" y="2605062"/>
                </a:lnTo>
                <a:lnTo>
                  <a:pt x="0" y="2605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843019" y="6653238"/>
            <a:ext cx="1738121" cy="2605062"/>
          </a:xfrm>
          <a:custGeom>
            <a:avLst/>
            <a:gdLst/>
            <a:ahLst/>
            <a:cxnLst/>
            <a:rect l="l" t="t" r="r" b="b"/>
            <a:pathLst>
              <a:path w="1738121" h="2605062">
                <a:moveTo>
                  <a:pt x="0" y="0"/>
                </a:moveTo>
                <a:lnTo>
                  <a:pt x="1738122" y="0"/>
                </a:lnTo>
                <a:lnTo>
                  <a:pt x="1738122" y="2605062"/>
                </a:lnTo>
                <a:lnTo>
                  <a:pt x="0" y="2605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39343"/>
            <a:ext cx="9100521" cy="216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sz="788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Temos 7 opções de pose do</a:t>
            </a:r>
            <a:r>
              <a:rPr lang="en-US" sz="7883" b="1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Jota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14186" y="1120293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38796" y="1104900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63407" y="1120293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10720" y="4191824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40967" y="4191824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21870" y="4191824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46672" y="6966981"/>
            <a:ext cx="584249" cy="91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6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784098"/>
            <a:ext cx="7981784" cy="368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Segurando placa em branco</a:t>
            </a:r>
          </a:p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Braços cruzados</a:t>
            </a:r>
          </a:p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Apoio + apontar</a:t>
            </a:r>
          </a:p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Apontando pro celular</a:t>
            </a:r>
          </a:p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Mexendo no celular</a:t>
            </a:r>
          </a:p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Apontando pro lado</a:t>
            </a:r>
          </a:p>
          <a:p>
            <a:pPr marL="836592" lvl="1" indent="-418296" algn="l">
              <a:lnSpc>
                <a:spcPts val="4146"/>
              </a:lnSpc>
              <a:buAutoNum type="arabicPeriod"/>
            </a:pPr>
            <a:r>
              <a:rPr lang="en-US" sz="3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Gritando o megafone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993869"/>
            <a:ext cx="10810667" cy="422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048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Todas as imagens estão em PNG (sem fundo)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8463537"/>
            <a:ext cx="9896309" cy="44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documento vetorizado não está disponível.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11818">
                <a:alpha val="100000"/>
              </a:srgbClr>
            </a:gs>
            <a:gs pos="100000">
              <a:srgbClr val="90121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15667" y="1028700"/>
            <a:ext cx="17429441" cy="8229600"/>
            <a:chOff x="0" y="0"/>
            <a:chExt cx="4590470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0470" cy="2167467"/>
            </a:xfrm>
            <a:custGeom>
              <a:avLst/>
              <a:gdLst/>
              <a:ahLst/>
              <a:cxnLst/>
              <a:rect l="l" t="t" r="r" b="b"/>
              <a:pathLst>
                <a:path w="4590470" h="2167467">
                  <a:moveTo>
                    <a:pt x="7995" y="0"/>
                  </a:moveTo>
                  <a:lnTo>
                    <a:pt x="4582475" y="0"/>
                  </a:lnTo>
                  <a:cubicBezTo>
                    <a:pt x="4586891" y="0"/>
                    <a:pt x="4590470" y="3580"/>
                    <a:pt x="4590470" y="7995"/>
                  </a:cubicBezTo>
                  <a:lnTo>
                    <a:pt x="4590470" y="2159471"/>
                  </a:lnTo>
                  <a:cubicBezTo>
                    <a:pt x="4590470" y="2163887"/>
                    <a:pt x="4586891" y="2167467"/>
                    <a:pt x="4582475" y="2167467"/>
                  </a:cubicBezTo>
                  <a:lnTo>
                    <a:pt x="7995" y="2167467"/>
                  </a:lnTo>
                  <a:cubicBezTo>
                    <a:pt x="3580" y="2167467"/>
                    <a:pt x="0" y="2163887"/>
                    <a:pt x="0" y="2159471"/>
                  </a:cubicBezTo>
                  <a:lnTo>
                    <a:pt x="0" y="7995"/>
                  </a:lnTo>
                  <a:cubicBezTo>
                    <a:pt x="0" y="3580"/>
                    <a:pt x="3580" y="0"/>
                    <a:pt x="79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0470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691358"/>
            <a:ext cx="11186233" cy="2194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0"/>
              </a:lnSpc>
            </a:pPr>
            <a:r>
              <a:rPr lang="en-US" sz="972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Uso correto da imagem do</a:t>
            </a:r>
            <a:r>
              <a:rPr lang="en-US" sz="9729" b="1">
                <a:solidFill>
                  <a:srgbClr val="DC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Jota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962160"/>
            <a:ext cx="11721925" cy="454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8"/>
              </a:lnSpc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manter a identidade e a força do nosso avatar, pedimos atenção especial ao utilizar a imagem do </a:t>
            </a:r>
            <a:r>
              <a:rPr lang="en-US" sz="2944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Jota</a:t>
            </a: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2738"/>
              </a:lnSpc>
            </a:pPr>
            <a:endParaRPr lang="en-US" sz="294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38"/>
              </a:lnSpc>
            </a:pPr>
            <a:r>
              <a:rPr lang="en-US" sz="294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Não é permitido:</a:t>
            </a:r>
          </a:p>
          <a:p>
            <a:pPr marL="635737" lvl="1" indent="-317869" algn="l">
              <a:lnSpc>
                <a:spcPts val="2738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Cortar ou alterar partes da imagem;</a:t>
            </a:r>
          </a:p>
          <a:p>
            <a:pPr marL="635737" lvl="1" indent="-317869" algn="l">
              <a:lnSpc>
                <a:spcPts val="2738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Esticar ou distorcer o formato;</a:t>
            </a:r>
          </a:p>
          <a:p>
            <a:pPr marL="635737" lvl="1" indent="-317869" algn="l">
              <a:lnSpc>
                <a:spcPts val="2738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Modificar cores, traços ou proporções;</a:t>
            </a:r>
          </a:p>
          <a:p>
            <a:pPr marL="635737" lvl="1" indent="-317869" algn="l">
              <a:lnSpc>
                <a:spcPts val="2738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Usar efeitos que prejudiquem a qualidade;</a:t>
            </a:r>
          </a:p>
          <a:p>
            <a:pPr marL="635737" lvl="1" indent="-317869" algn="l">
              <a:lnSpc>
                <a:spcPts val="2738"/>
              </a:lnSpc>
              <a:buFont typeface="Arial"/>
              <a:buChar char="•"/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Aplicar de forma que denigra ou desrespeite a imagem.</a:t>
            </a:r>
          </a:p>
          <a:p>
            <a:pPr algn="l">
              <a:lnSpc>
                <a:spcPts val="2738"/>
              </a:lnSpc>
            </a:pPr>
            <a:endParaRPr lang="en-US" sz="294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38"/>
              </a:lnSpc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Sempre utilize o arquivo oficial disponibilizado, garantindo que o </a:t>
            </a:r>
            <a:r>
              <a:rPr lang="en-US" sz="2944">
                <a:solidFill>
                  <a:srgbClr val="DC2020"/>
                </a:solidFill>
                <a:latin typeface="Montserrat"/>
                <a:ea typeface="Montserrat"/>
                <a:cs typeface="Montserrat"/>
                <a:sym typeface="Montserrat"/>
              </a:rPr>
              <a:t>Jota</a:t>
            </a: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esteja presente de forma padronizada e com qualidade em todos os materiais.</a:t>
            </a:r>
          </a:p>
        </p:txBody>
      </p:sp>
      <p:sp>
        <p:nvSpPr>
          <p:cNvPr id="7" name="Freeform 7"/>
          <p:cNvSpPr/>
          <p:nvPr/>
        </p:nvSpPr>
        <p:spPr>
          <a:xfrm>
            <a:off x="11170335" y="393604"/>
            <a:ext cx="7678280" cy="11511178"/>
          </a:xfrm>
          <a:custGeom>
            <a:avLst/>
            <a:gdLst/>
            <a:ahLst/>
            <a:cxnLst/>
            <a:rect l="l" t="t" r="r" b="b"/>
            <a:pathLst>
              <a:path w="7678280" h="11511178">
                <a:moveTo>
                  <a:pt x="0" y="0"/>
                </a:moveTo>
                <a:lnTo>
                  <a:pt x="7678280" y="0"/>
                </a:lnTo>
                <a:lnTo>
                  <a:pt x="7678280" y="11511178"/>
                </a:lnTo>
                <a:lnTo>
                  <a:pt x="0" y="11511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52" y="1028700"/>
            <a:ext cx="5490864" cy="8229600"/>
          </a:xfrm>
          <a:custGeom>
            <a:avLst/>
            <a:gdLst/>
            <a:ahLst/>
            <a:cxnLst/>
            <a:rect l="l" t="t" r="r" b="b"/>
            <a:pathLst>
              <a:path w="5490864" h="8229600">
                <a:moveTo>
                  <a:pt x="0" y="0"/>
                </a:moveTo>
                <a:lnTo>
                  <a:pt x="5490864" y="0"/>
                </a:lnTo>
                <a:lnTo>
                  <a:pt x="54908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02075" y="1028700"/>
            <a:ext cx="5483851" cy="8229600"/>
          </a:xfrm>
          <a:custGeom>
            <a:avLst/>
            <a:gdLst/>
            <a:ahLst/>
            <a:cxnLst/>
            <a:rect l="l" t="t" r="r" b="b"/>
            <a:pathLst>
              <a:path w="5483851" h="8229600">
                <a:moveTo>
                  <a:pt x="0" y="0"/>
                </a:moveTo>
                <a:lnTo>
                  <a:pt x="5483850" y="0"/>
                </a:lnTo>
                <a:lnTo>
                  <a:pt x="5483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69925" y="1028700"/>
            <a:ext cx="5489375" cy="8229600"/>
          </a:xfrm>
          <a:custGeom>
            <a:avLst/>
            <a:gdLst/>
            <a:ahLst/>
            <a:cxnLst/>
            <a:rect l="l" t="t" r="r" b="b"/>
            <a:pathLst>
              <a:path w="5489375" h="8229600">
                <a:moveTo>
                  <a:pt x="0" y="0"/>
                </a:moveTo>
                <a:lnTo>
                  <a:pt x="5489375" y="0"/>
                </a:lnTo>
                <a:lnTo>
                  <a:pt x="548937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02075" y="1028700"/>
            <a:ext cx="5483851" cy="8229600"/>
          </a:xfrm>
          <a:custGeom>
            <a:avLst/>
            <a:gdLst/>
            <a:ahLst/>
            <a:cxnLst/>
            <a:rect l="l" t="t" r="r" b="b"/>
            <a:pathLst>
              <a:path w="5483851" h="8229600">
                <a:moveTo>
                  <a:pt x="0" y="0"/>
                </a:moveTo>
                <a:lnTo>
                  <a:pt x="5483850" y="0"/>
                </a:lnTo>
                <a:lnTo>
                  <a:pt x="5483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72900" y="1028700"/>
            <a:ext cx="5486400" cy="8229600"/>
          </a:xfrm>
          <a:custGeom>
            <a:avLst/>
            <a:gdLst/>
            <a:ahLst/>
            <a:cxnLst/>
            <a:rect l="l" t="t" r="r" b="b"/>
            <a:pathLst>
              <a:path w="5486400" h="8229600">
                <a:moveTo>
                  <a:pt x="0" y="0"/>
                </a:moveTo>
                <a:lnTo>
                  <a:pt x="5486400" y="0"/>
                </a:lnTo>
                <a:lnTo>
                  <a:pt x="5486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90111" y="1028700"/>
            <a:ext cx="5483851" cy="8229600"/>
          </a:xfrm>
          <a:custGeom>
            <a:avLst/>
            <a:gdLst/>
            <a:ahLst/>
            <a:cxnLst/>
            <a:rect l="l" t="t" r="r" b="b"/>
            <a:pathLst>
              <a:path w="5483851" h="8229600">
                <a:moveTo>
                  <a:pt x="0" y="0"/>
                </a:moveTo>
                <a:lnTo>
                  <a:pt x="5483850" y="0"/>
                </a:lnTo>
                <a:lnTo>
                  <a:pt x="5483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63574"/>
            <a:ext cx="5490864" cy="8229600"/>
          </a:xfrm>
          <a:custGeom>
            <a:avLst/>
            <a:gdLst/>
            <a:ahLst/>
            <a:cxnLst/>
            <a:rect l="l" t="t" r="r" b="b"/>
            <a:pathLst>
              <a:path w="5490864" h="8229600">
                <a:moveTo>
                  <a:pt x="0" y="0"/>
                </a:moveTo>
                <a:lnTo>
                  <a:pt x="5490864" y="0"/>
                </a:lnTo>
                <a:lnTo>
                  <a:pt x="54908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365</Words>
  <Application>Microsoft Office PowerPoint</Application>
  <PresentationFormat>Personalizar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Montserrat</vt:lpstr>
      <vt:lpstr>Calibri</vt:lpstr>
      <vt:lpstr>Montserrat Bold Italics</vt:lpstr>
      <vt:lpstr>Montaser Arabic Bold</vt:lpstr>
      <vt:lpstr>Montserrat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OFICIAL - JOTA MANUAL DE USO </dc:title>
  <cp:lastModifiedBy>MARIA EDUARDA OLIVEIRA</cp:lastModifiedBy>
  <cp:revision>2</cp:revision>
  <dcterms:created xsi:type="dcterms:W3CDTF">2006-08-16T00:00:00Z</dcterms:created>
  <dcterms:modified xsi:type="dcterms:W3CDTF">2026-10-22T18:27:39Z</dcterms:modified>
  <dc:identifier>DAGwo9hm-d8</dc:identifier>
</cp:coreProperties>
</file>